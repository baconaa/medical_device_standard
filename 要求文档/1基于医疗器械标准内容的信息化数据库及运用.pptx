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6" r:id="rId4"/>
    <p:sldId id="277" r:id="rId5"/>
    <p:sldId id="275" r:id="rId6"/>
    <p:sldId id="257" r:id="rId7"/>
    <p:sldId id="259" r:id="rId8"/>
    <p:sldId id="260" r:id="rId9"/>
    <p:sldId id="261" r:id="rId10"/>
    <p:sldId id="262" r:id="rId11"/>
    <p:sldId id="263" r:id="rId12"/>
    <p:sldId id="264" r:id="rId13"/>
    <p:sldId id="271" r:id="rId14"/>
    <p:sldId id="272" r:id="rId15"/>
    <p:sldId id="265" r:id="rId16"/>
    <p:sldId id="274" r:id="rId17"/>
    <p:sldId id="273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71.xml"/><Relationship Id="rId6" Type="http://schemas.openxmlformats.org/officeDocument/2006/relationships/image" Target="../media/image1.png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1.xml"/><Relationship Id="rId2" Type="http://schemas.openxmlformats.org/officeDocument/2006/relationships/image" Target="../media/image4.png"/><Relationship Id="rId1" Type="http://schemas.openxmlformats.org/officeDocument/2006/relationships/tags" Target="../tags/tag8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基于医疗器械标准内容的信息化数据库及运用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3894455"/>
            <a:ext cx="9799320" cy="1138555"/>
          </a:xfrm>
        </p:spPr>
        <p:txBody>
          <a:bodyPr/>
          <a:p>
            <a:r>
              <a:rPr lang="zh-CN" altLang="en-US"/>
              <a:t>秦黎</a:t>
            </a:r>
            <a:endParaRPr lang="zh-CN" altLang="en-US"/>
          </a:p>
          <a:p>
            <a:r>
              <a:rPr lang="en-US" altLang="zh-CN"/>
              <a:t>2025</a:t>
            </a:r>
            <a:r>
              <a:rPr lang="zh-CN" altLang="en-US"/>
              <a:t>年</a:t>
            </a:r>
            <a:r>
              <a:rPr lang="en-US" altLang="zh-CN"/>
              <a:t>10</a:t>
            </a:r>
            <a:r>
              <a:rPr lang="zh-CN" altLang="en-US"/>
              <a:t>月</a:t>
            </a:r>
            <a:r>
              <a:rPr lang="en-US" altLang="zh-CN"/>
              <a:t>5</a:t>
            </a:r>
            <a:r>
              <a:rPr lang="zh-CN" altLang="en-US"/>
              <a:t>日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13480" y="320110"/>
            <a:ext cx="10969200" cy="705600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医疗器械标准信息化及其应用</a:t>
            </a:r>
            <a:br>
              <a:rPr lang="zh-CN" altLang="en-US"/>
            </a:br>
            <a:r>
              <a:rPr lang="en-US" altLang="zh-CN" sz="2700"/>
              <a:t>http://www.labbuilding.cn/</a:t>
            </a:r>
            <a:endParaRPr lang="en-US" altLang="zh-CN" sz="2700"/>
          </a:p>
        </p:txBody>
      </p:sp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11440160" y="1217930"/>
            <a:ext cx="142240" cy="142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3"/>
            </p:custDataLst>
          </p:nvPr>
        </p:nvSpPr>
        <p:spPr>
          <a:xfrm>
            <a:off x="11188700" y="1217930"/>
            <a:ext cx="142240" cy="14287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10937875" y="1217930"/>
            <a:ext cx="142240" cy="14287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https://docer-ks3.wpscdn.cn/picture/197586563/b9095ff32d4aba110294d1f2971270f3_612.jpg" descr="人工智能机器手探索宇宙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35" t="10613" b="14709"/>
          <a:stretch>
            <a:fillRect/>
          </a:stretch>
        </p:blipFill>
        <p:spPr>
          <a:xfrm>
            <a:off x="613410" y="1272540"/>
            <a:ext cx="10968990" cy="511683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908" h="8085">
                <a:moveTo>
                  <a:pt x="0" y="0"/>
                </a:moveTo>
                <a:lnTo>
                  <a:pt x="12908" y="0"/>
                </a:lnTo>
                <a:lnTo>
                  <a:pt x="12908" y="8085"/>
                </a:lnTo>
                <a:lnTo>
                  <a:pt x="0" y="808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alpha val="15000"/>
              </a:schemeClr>
            </a:solidFill>
          </a:ln>
        </p:spPr>
      </p:pic>
    </p:spTree>
    <p:custDataLst>
      <p:tags r:id="rId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60" y="741045"/>
            <a:ext cx="10800000" cy="5749478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255" y="1184275"/>
            <a:ext cx="10800000" cy="52153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医疗器械行业标准是医疗器械检验工作的基础，其中的内容数据会运用到不同的场景，例如：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、实验室能力评审；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、实验室操作规程；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、产品技术要求编制；</a:t>
            </a:r>
            <a:endParaRPr lang="zh-CN" altLang="en-US"/>
          </a:p>
          <a:p>
            <a:r>
              <a:rPr lang="zh-CN" altLang="en-US"/>
              <a:t>等。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需求：将已经修改为</a:t>
            </a:r>
            <a:r>
              <a:rPr lang="en-US" altLang="zh-CN"/>
              <a:t>EXCEL</a:t>
            </a:r>
            <a:r>
              <a:rPr lang="zh-CN" altLang="en-US"/>
              <a:t>形式的医疗器械标准内容录入，将内容以不同标签进行分类，形成数据库，再根据不同应用场景的数据需求，以标签为关键词，形成不同的表格、文档。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输入权限：数据输入员；</a:t>
            </a:r>
            <a:endParaRPr lang="zh-CN" altLang="en-US"/>
          </a:p>
          <a:p>
            <a:r>
              <a:rPr lang="zh-CN" altLang="en-US"/>
              <a:t>输出权限：业务人员、质量管理人员、设备管理人员、实验室人员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401955"/>
            <a:ext cx="10968990" cy="1075055"/>
          </a:xfrm>
        </p:spPr>
        <p:txBody>
          <a:bodyPr/>
          <a:p>
            <a:r>
              <a:rPr lang="zh-CN" altLang="en-US"/>
              <a:t>以</a:t>
            </a:r>
            <a:r>
              <a:rPr lang="en-US" altLang="zh-CN"/>
              <a:t>GB 15810-2019</a:t>
            </a:r>
            <a:r>
              <a:rPr lang="zh-CN" altLang="en-US"/>
              <a:t>《一次性使用无菌注射器》为例：</a:t>
            </a:r>
            <a:endParaRPr lang="zh-CN" altLang="en-US"/>
          </a:p>
          <a:p>
            <a:r>
              <a:rPr lang="zh-CN" altLang="en-US"/>
              <a:t>提供以转换为</a:t>
            </a:r>
            <a:r>
              <a:rPr lang="en-US" altLang="zh-CN"/>
              <a:t>EXCEL</a:t>
            </a:r>
            <a:r>
              <a:rPr lang="zh-CN" altLang="en-US"/>
              <a:t>版本的标准内容文档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1477010"/>
            <a:ext cx="9192260" cy="49142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一、输入：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、数据输入员将转换为</a:t>
            </a:r>
            <a:r>
              <a:rPr lang="en-US" altLang="zh-CN"/>
              <a:t>EXCEL</a:t>
            </a:r>
            <a:r>
              <a:rPr lang="zh-CN" altLang="en-US"/>
              <a:t>表格的医疗器械标准按内容进行分解入库，也可以直接通过拷贝将</a:t>
            </a:r>
            <a:r>
              <a:rPr lang="en-US" altLang="zh-CN"/>
              <a:t>word</a:t>
            </a:r>
            <a:r>
              <a:rPr lang="zh-CN" altLang="en-US"/>
              <a:t>版标准文档内容输入系统；</a:t>
            </a:r>
            <a:endParaRPr lang="zh-CN" altLang="en-US"/>
          </a:p>
          <a:p>
            <a:r>
              <a:rPr lang="zh-CN" altLang="en-US"/>
              <a:t>注意：部分内容较多，应保证每项内容能容纳</a:t>
            </a:r>
            <a:r>
              <a:rPr lang="en-US" altLang="zh-CN"/>
              <a:t>2000</a:t>
            </a:r>
            <a:r>
              <a:rPr lang="zh-CN" altLang="en-US"/>
              <a:t>字。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、输入后可以数据化表格的形式展示全部数据，搜索按标准编号（必须含年代号），数据输入员可在系统中直接修改；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二、输出：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、业务人员、质量管理人员、设备管理人员、实验室人员可进入系统浏览全部信息内容，可以对错误内容提出，但不能修改，数据输入员在确定收到报错信息后，手动修改；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1490345"/>
            <a:ext cx="10968990" cy="1183640"/>
          </a:xfrm>
        </p:spPr>
        <p:txBody>
          <a:bodyPr/>
          <a:p>
            <a:r>
              <a:rPr lang="en-US" altLang="zh-CN"/>
              <a:t>2</a:t>
            </a:r>
            <a:r>
              <a:rPr lang="zh-CN" altLang="en-US"/>
              <a:t>、输出为</a:t>
            </a:r>
            <a:r>
              <a:rPr lang="en-US" altLang="zh-CN"/>
              <a:t>EXCEL</a:t>
            </a:r>
            <a:r>
              <a:rPr lang="zh-CN" altLang="en-US"/>
              <a:t>表格；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）质管人员导出表格，表</a:t>
            </a:r>
            <a:r>
              <a:rPr lang="en-US" altLang="zh-CN"/>
              <a:t>1</a:t>
            </a:r>
            <a:r>
              <a:rPr lang="zh-CN" altLang="en-US"/>
              <a:t>，能力建设信息网站项目表</a:t>
            </a:r>
            <a:endParaRPr lang="zh-CN" altLang="en-US"/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916305" y="2768600"/>
          <a:ext cx="7402830" cy="1454150"/>
        </p:xfrm>
        <a:graphic>
          <a:graphicData uri="http://schemas.openxmlformats.org/drawingml/2006/table">
            <a:tbl>
              <a:tblPr/>
              <a:tblGrid>
                <a:gridCol w="2467610"/>
                <a:gridCol w="2467610"/>
                <a:gridCol w="2467610"/>
              </a:tblGrid>
              <a:tr h="72707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项目名称</a:t>
                      </a:r>
                      <a:endParaRPr lang="zh-CN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标准编号</a:t>
                      </a:r>
                      <a:endParaRPr lang="zh-CN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项目条款</a:t>
                      </a:r>
                      <a:endParaRPr lang="zh-CN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707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 </a:t>
                      </a:r>
                      <a:endParaRPr lang="en-US" altLang="zh-CN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 </a:t>
                      </a:r>
                      <a:endParaRPr lang="en-US" altLang="zh-CN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1490345"/>
            <a:ext cx="10968990" cy="1183640"/>
          </a:xfrm>
        </p:spPr>
        <p:txBody>
          <a:bodyPr/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）设备管理人员表格，表</a:t>
            </a:r>
            <a:r>
              <a:rPr lang="en-US" altLang="zh-CN"/>
              <a:t>2</a:t>
            </a:r>
            <a:r>
              <a:rPr lang="zh-CN" altLang="en-US"/>
              <a:t>，认可检验检测能力表</a:t>
            </a:r>
            <a:endParaRPr lang="zh-CN" altLang="en-US"/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916305" y="2768600"/>
          <a:ext cx="7402830" cy="1454150"/>
        </p:xfrm>
        <a:graphic>
          <a:graphicData uri="http://schemas.openxmlformats.org/drawingml/2006/table">
            <a:tbl>
              <a:tblPr/>
              <a:tblGrid>
                <a:gridCol w="1850708"/>
                <a:gridCol w="1850707"/>
                <a:gridCol w="1850708"/>
                <a:gridCol w="1850707"/>
              </a:tblGrid>
              <a:tr h="72707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项目名称</a:t>
                      </a:r>
                      <a:endParaRPr lang="zh-CN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标准名称</a:t>
                      </a:r>
                      <a:endParaRPr lang="zh-CN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096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标准编号</a:t>
                      </a: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空格</a:t>
                      </a: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项目条款</a:t>
                      </a:r>
                      <a:endParaRPr lang="zh-CN" sz="1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096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latin typeface="微软雅黑" panose="020B0503020204020204" charset="-122"/>
                          <a:ea typeface="微软雅黑" panose="020B0503020204020204" charset="-122"/>
                        </a:rPr>
                        <a:t>使用设备</a:t>
                      </a:r>
                      <a:endParaRPr lang="zh-CN" sz="1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7075">
                <a:tc>
                  <a:txBody>
                    <a:bodyPr/>
                    <a:p>
                      <a:pPr marL="6096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总则</a:t>
                      </a:r>
                      <a:endParaRPr lang="zh-CN" sz="1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096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血管内导管一次性使用无菌导管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sz="1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部分：通用要求</a:t>
                      </a:r>
                      <a:endParaRPr lang="zh-CN" altLang="en-US" sz="1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096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YY 0285.1-2017 4.1</a:t>
                      </a:r>
                      <a:endParaRPr lang="en-US" altLang="zh-CN" sz="1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096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843280" y="184150"/>
            <a:ext cx="10968990" cy="556260"/>
          </a:xfrm>
        </p:spPr>
        <p:txBody>
          <a:bodyPr/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）实验室人员表格，表</a:t>
            </a:r>
            <a:r>
              <a:rPr lang="en-US" altLang="zh-CN"/>
              <a:t>3</a:t>
            </a:r>
            <a:r>
              <a:rPr lang="zh-CN" altLang="en-US"/>
              <a:t>，操作规程表</a:t>
            </a:r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1087755" y="822960"/>
          <a:ext cx="10108565" cy="5688330"/>
        </p:xfrm>
        <a:graphic>
          <a:graphicData uri="http://schemas.openxmlformats.org/drawingml/2006/table">
            <a:tbl>
              <a:tblPr/>
              <a:tblGrid>
                <a:gridCol w="2679700"/>
                <a:gridCol w="7428865"/>
              </a:tblGrid>
              <a:tr h="247650">
                <a:tc>
                  <a:txBody>
                    <a:bodyPr/>
                    <a:p>
                      <a:pPr marL="3556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标准编号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GB 15810-2019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01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标准名称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一次性使用无菌注射器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65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项目条款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556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5.7.1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01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项目名称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556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残留容量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4030">
                <a:tc>
                  <a:txBody>
                    <a:bodyPr/>
                    <a:p>
                      <a:pPr marL="3556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项目要求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556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按附录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B 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B.2 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试验，在活塞被完全推入至外套底端，注射器的最大残留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容量应符合表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的要求。</a:t>
                      </a:r>
                      <a:endParaRPr lang="zh-CN" altLang="en-US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650">
                <a:tc>
                  <a:txBody>
                    <a:bodyPr/>
                    <a:p>
                      <a:pPr marL="3556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使用设备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556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电子天平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4665">
                <a:tc>
                  <a:txBody>
                    <a:bodyPr/>
                    <a:p>
                      <a:pPr marL="3556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项目方法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556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附录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B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  <a:p>
                      <a:pPr marL="3556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……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650">
                <a:tc>
                  <a:txBody>
                    <a:bodyPr/>
                    <a:p>
                      <a:pPr marL="3556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注意事项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556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015">
                <a:tc>
                  <a:txBody>
                    <a:bodyPr/>
                    <a:p>
                      <a:pPr marL="3556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marL="3556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24765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标准编号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GB 15810-2019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01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标准名称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一次性使用无菌注射器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65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项目条款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5.7.2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65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项目名称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器身密合性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4104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项目要求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556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按附录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C</a:t>
                      </a: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试验，活塞或密封圈处应无液体泄漏现象。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按附录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D</a:t>
                      </a: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试验，活塞或密封圈处应无气体泄漏现象，且压力表的读数不应持续下降。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65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使用设备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556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注射器器身密合性测试仪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466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项目方法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556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附录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C</a:t>
                      </a: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全文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附录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D</a:t>
                      </a: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全文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015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注意事项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556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650">
                <a:tc>
                  <a:txBody>
                    <a:bodyPr/>
                    <a:p>
                      <a:pPr marL="3556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marL="3556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390265" y="518826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 </a:t>
            </a:r>
            <a:endParaRPr lang="en-US" altLang="zh-CN" sz="1600">
              <a:latin typeface="Calibri" panose="020F0502020204030204"/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08635" y="294005"/>
            <a:ext cx="11068685" cy="5955665"/>
          </a:xfrm>
        </p:spPr>
        <p:txBody>
          <a:bodyPr>
            <a:normAutofit/>
          </a:bodyPr>
          <a:p>
            <a:r>
              <a:rPr lang="zh-CN" altLang="en-US"/>
              <a:t>一、业务人员输出表格，输出产品技术要求</a:t>
            </a:r>
            <a:endParaRPr lang="zh-CN" altLang="en-US"/>
          </a:p>
          <a:p>
            <a:r>
              <a:rPr lang="zh-CN" altLang="en-US"/>
              <a:t>医疗器械产品技术要求是医疗器械制造商自行制定的产品质量要求，其依据即为相关医疗器械标准。例如产品为一次性使用注射器</a:t>
            </a:r>
            <a:r>
              <a:rPr lang="en-US" altLang="zh-CN"/>
              <a:t> </a:t>
            </a:r>
            <a:r>
              <a:rPr lang="zh-CN" altLang="en-US"/>
              <a:t>带针，即需要综合</a:t>
            </a:r>
            <a:r>
              <a:rPr lang="en-US" altLang="zh-CN"/>
              <a:t>GB15810</a:t>
            </a:r>
            <a:r>
              <a:rPr lang="zh-CN" altLang="en-US"/>
              <a:t>和</a:t>
            </a:r>
            <a:r>
              <a:rPr lang="en-US" altLang="zh-CN"/>
              <a:t>GB15811</a:t>
            </a:r>
            <a:r>
              <a:rPr lang="zh-CN" altLang="en-US"/>
              <a:t>两个国家标准，即使注射器产品，也需要根据国标，制定自己的产品技术要求。</a:t>
            </a:r>
            <a:endParaRPr lang="zh-CN" altLang="en-US"/>
          </a:p>
          <a:p>
            <a:r>
              <a:rPr lang="zh-CN" altLang="en-US"/>
              <a:t>需求：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、根据医疗器械产品技术要求模版，在软件中进行编辑，编制的同时可以将内容进入技术要求数据库，该数据库只有高级权限和专用用户权限可以进入；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、在编制检验方法时，自动键入</a:t>
            </a:r>
            <a:r>
              <a:rPr lang="en-US" altLang="zh-CN"/>
              <a:t>“</a:t>
            </a:r>
            <a:r>
              <a:rPr lang="zh-CN" altLang="en-US"/>
              <a:t>试验结果应符合</a:t>
            </a:r>
            <a:r>
              <a:rPr lang="en-US" altLang="zh-CN"/>
              <a:t>XX</a:t>
            </a:r>
            <a:r>
              <a:rPr lang="zh-CN" altLang="en-US"/>
              <a:t>的要求</a:t>
            </a:r>
            <a:r>
              <a:rPr lang="en-US" altLang="zh-CN"/>
              <a:t>”</a:t>
            </a:r>
            <a:r>
              <a:rPr lang="zh-CN" altLang="en-US"/>
              <a:t>，其余部分手动输入或联想导入；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、在编辑性能指标和检验方法时，可根据键入关键词，在标准内容数据库中，找到相似关键词的项目要求和项目方法，可供直接使用，使用时有两种形式：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）直接写成</a:t>
            </a:r>
            <a:r>
              <a:rPr lang="en-US" altLang="zh-CN"/>
              <a:t>“</a:t>
            </a:r>
            <a:r>
              <a:rPr lang="zh-CN" altLang="en-US"/>
              <a:t>按</a:t>
            </a:r>
            <a:r>
              <a:rPr lang="en-US" altLang="zh-CN"/>
              <a:t>GB 15810-2019</a:t>
            </a:r>
            <a:r>
              <a:rPr lang="zh-CN" altLang="en-US"/>
              <a:t>中附录</a:t>
            </a:r>
            <a:r>
              <a:rPr lang="en-US" altLang="zh-CN"/>
              <a:t>C</a:t>
            </a:r>
            <a:r>
              <a:rPr lang="zh-CN" altLang="en-US"/>
              <a:t>的方法进行试验，试验结果应符合</a:t>
            </a:r>
            <a:r>
              <a:rPr lang="en-US" altLang="zh-CN"/>
              <a:t>2.7.2</a:t>
            </a:r>
            <a:r>
              <a:rPr lang="zh-CN" altLang="en-US"/>
              <a:t>的要求</a:t>
            </a:r>
            <a:r>
              <a:rPr lang="en-US" altLang="zh-CN"/>
              <a:t>”</a:t>
            </a:r>
            <a:r>
              <a:rPr lang="zh-CN" altLang="en-US"/>
              <a:t>；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）如果内容较短，可直接将标准数据库的内容导入技术要求。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、最终导出</a:t>
            </a:r>
            <a:r>
              <a:rPr lang="en-US" altLang="zh-CN"/>
              <a:t>word</a:t>
            </a:r>
            <a:r>
              <a:rPr lang="zh-CN" altLang="en-US"/>
              <a:t>版本产品技术要求。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08635" y="2061210"/>
            <a:ext cx="11068685" cy="2103120"/>
          </a:xfrm>
        </p:spPr>
        <p:txBody>
          <a:bodyPr>
            <a:normAutofit/>
          </a:bodyPr>
          <a:p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附加题：</a:t>
            </a:r>
            <a:endParaRPr 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如提供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Word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形式标准，不事先转换为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EXCEL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分类形式，通过自动或半自动的形式，直接输入系统。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基于医疗器械标准内容的信息化数据库及运用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3894455"/>
            <a:ext cx="9799320" cy="1138555"/>
          </a:xfrm>
        </p:spPr>
        <p:txBody>
          <a:bodyPr/>
          <a:p>
            <a:r>
              <a:rPr lang="zh-CN" altLang="en-US"/>
              <a:t>秦黎</a:t>
            </a:r>
            <a:endParaRPr lang="zh-CN" altLang="en-US"/>
          </a:p>
          <a:p>
            <a:r>
              <a:rPr lang="en-US" altLang="zh-CN"/>
              <a:t>2025</a:t>
            </a:r>
            <a:r>
              <a:rPr lang="zh-CN" altLang="en-US"/>
              <a:t>年</a:t>
            </a:r>
            <a:r>
              <a:rPr lang="en-US" altLang="zh-CN"/>
              <a:t>10</a:t>
            </a:r>
            <a:r>
              <a:rPr lang="zh-CN" altLang="en-US"/>
              <a:t>月</a:t>
            </a:r>
            <a:r>
              <a:rPr lang="en-US" altLang="zh-CN"/>
              <a:t>5</a:t>
            </a:r>
            <a:r>
              <a:rPr lang="zh-CN" altLang="en-US"/>
              <a:t>日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40492799_1*a*1"/>
  <p:tag name="KSO_WM_TEMPLATE_CATEGORY" val="custom"/>
  <p:tag name="KSO_WM_TEMPLATE_INDEX" val="40492799"/>
  <p:tag name="KSO_WM_UNIT_LAYERLEVEL" val="1"/>
  <p:tag name="KSO_WM_TAG_VERSION" val="3.0"/>
  <p:tag name="KSO_WM_BEAUTIFY_FLAG" val="#wm#"/>
  <p:tag name="KSO_WM_UNIT_VALUE" val="30"/>
  <p:tag name="KSO_WM_UNIT_PRESET_TEXT" val="单击此处添加标题"/>
  <p:tag name="KSO_WM_UNIT_TEXT_TYPE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40492799_1*i*1"/>
  <p:tag name="KSO_WM_TEMPLATE_CATEGORY" val="custom"/>
  <p:tag name="KSO_WM_TEMPLATE_INDEX" val="40492799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40492799_1*i*2"/>
  <p:tag name="KSO_WM_TEMPLATE_CATEGORY" val="custom"/>
  <p:tag name="KSO_WM_TEMPLATE_INDEX" val="40492799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40492799_1*i*3"/>
  <p:tag name="KSO_WM_TEMPLATE_CATEGORY" val="custom"/>
  <p:tag name="KSO_WM_TEMPLATE_INDEX" val="40492799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PICTURE_SUBTYPE" val="b"/>
  <p:tag name="KSO_WM_UNIT_VALUE" val="1342*3046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40492799_1*d*1"/>
  <p:tag name="KSO_WM_TEMPLATE_CATEGORY" val="custom"/>
  <p:tag name="KSO_WM_TEMPLATE_INDEX" val="40492799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SLIDE_ID" val="custom40492799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2799"/>
  <p:tag name="KSO_WM_SLIDE_TYPE" val="text"/>
  <p:tag name="KSO_WM_SLIDE_SUBTYPE" val="picTxt"/>
  <p:tag name="KSO_WM_SLIDE_SIZE" val="864*455"/>
  <p:tag name="KSO_WM_SLIDE_POSITION" val="48*47"/>
  <p:tag name="KSO_WM_SLIDE_LAYOUT" val="a_d"/>
  <p:tag name="KSO_WM_SLIDE_LAYOUT_CNT" val="1_1"/>
  <p:tag name="KSO_WM_SPECIAL_SOURCE" val="bdnull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TABLE_ENDDRAG_ORIGIN_RECT" val="582*114"/>
  <p:tag name="TABLE_ENDDRAG_RECT" val="72*218*582*114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TABLE_ENDDRAG_ORIGIN_RECT" val="582*114"/>
  <p:tag name="TABLE_ENDDRAG_RECT" val="72*218*582*114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TABLE_ENDDRAG_ORIGIN_RECT" val="795*447"/>
  <p:tag name="TABLE_ENDDRAG_RECT" val="85*64*795*447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1482</Words>
  <Application>WPS 演示</Application>
  <PresentationFormat>宽屏</PresentationFormat>
  <Paragraphs>156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Wingdings</vt:lpstr>
      <vt:lpstr>微软雅黑</vt:lpstr>
      <vt:lpstr>Calibri</vt:lpstr>
      <vt:lpstr>Times New Roman</vt:lpstr>
      <vt:lpstr>Arial Unicode MS</vt:lpstr>
      <vt:lpstr>WPS</vt:lpstr>
      <vt:lpstr>基于医疗器械标准内容的信息化数据库及运用</vt:lpstr>
      <vt:lpstr>医疗器械标准信息化及其应用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基于医疗器械标准内容的信息化数据库及运用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秦黎</cp:lastModifiedBy>
  <cp:revision>163</cp:revision>
  <dcterms:created xsi:type="dcterms:W3CDTF">2019-06-19T02:08:00Z</dcterms:created>
  <dcterms:modified xsi:type="dcterms:W3CDTF">2025-10-10T00:46:13Z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902D98513D7F439EB613DD586EE03821_11</vt:lpwstr>
  </property>
</Properties>
</file>